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embeddedFontLst>
    <p:embeddedFont>
      <p:font typeface="Crimson Text SemiBold" charset="0"/>
      <p:bold r:id="rId15"/>
    </p:embeddedFont>
    <p:embeddedFont>
      <p:font typeface="Arial Black" panose="020B0A04020102020204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6" Type="http://schemas.openxmlformats.org/officeDocument/2006/relationships/tags" Target="../tags/tag85.xml"/><Relationship Id="rId25" Type="http://schemas.openxmlformats.org/officeDocument/2006/relationships/tags" Target="../tags/tag84.xml"/><Relationship Id="rId24" Type="http://schemas.openxmlformats.org/officeDocument/2006/relationships/tags" Target="../tags/tag83.xml"/><Relationship Id="rId23" Type="http://schemas.openxmlformats.org/officeDocument/2006/relationships/tags" Target="../tags/tag82.xml"/><Relationship Id="rId22" Type="http://schemas.openxmlformats.org/officeDocument/2006/relationships/tags" Target="../tags/tag81.xml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tags" Target="../tags/tag63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2" Type="http://schemas.openxmlformats.org/officeDocument/2006/relationships/tags" Target="../tags/tag120.xml"/><Relationship Id="rId21" Type="http://schemas.openxmlformats.org/officeDocument/2006/relationships/tags" Target="../tags/tag119.xml"/><Relationship Id="rId20" Type="http://schemas.openxmlformats.org/officeDocument/2006/relationships/tags" Target="../tags/tag118.xml"/><Relationship Id="rId2" Type="http://schemas.openxmlformats.org/officeDocument/2006/relationships/tags" Target="../tags/tag102.xml"/><Relationship Id="rId19" Type="http://schemas.openxmlformats.org/officeDocument/2006/relationships/tags" Target="../tags/tag117.xml"/><Relationship Id="rId18" Type="http://schemas.openxmlformats.org/officeDocument/2006/relationships/tags" Target="../tags/tag116.xml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2" Type="http://schemas.openxmlformats.org/officeDocument/2006/relationships/tags" Target="../tags/tag169.xml"/><Relationship Id="rId21" Type="http://schemas.openxmlformats.org/officeDocument/2006/relationships/tags" Target="../tags/tag168.xml"/><Relationship Id="rId20" Type="http://schemas.openxmlformats.org/officeDocument/2006/relationships/tags" Target="../tags/tag167.xml"/><Relationship Id="rId2" Type="http://schemas.openxmlformats.org/officeDocument/2006/relationships/tags" Target="../tags/tag151.xml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image" Target="../media/image2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3327399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357" cy="2819401"/>
          </a:xfrm>
          <a:prstGeom prst="rect">
            <a:avLst/>
          </a:prstGeom>
        </p:spPr>
      </p:pic>
      <p:sp>
        <p:nvSpPr>
          <p:cNvPr id="25" name="矩形: 圆角 24"/>
          <p:cNvSpPr/>
          <p:nvPr>
            <p:custDataLst>
              <p:tags r:id="rId7"/>
            </p:custDataLst>
          </p:nvPr>
        </p:nvSpPr>
        <p:spPr>
          <a:xfrm>
            <a:off x="838201" y="1860552"/>
            <a:ext cx="10515600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>
            <p:custDataLst>
              <p:tags r:id="rId8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9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0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29540" y="565150"/>
            <a:ext cx="3198495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533277" y="3925701"/>
            <a:ext cx="1827999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3272059" y="1267996"/>
            <a:ext cx="249430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>
            <p:custDataLst>
              <p:tags r:id="rId7"/>
            </p:custDataLst>
          </p:nvPr>
        </p:nvSpPr>
        <p:spPr>
          <a:xfrm>
            <a:off x="129790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8"/>
            </p:custDataLst>
          </p:nvPr>
        </p:nvSpPr>
        <p:spPr>
          <a:xfrm>
            <a:off x="154985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>
            <p:custDataLst>
              <p:tags r:id="rId9"/>
            </p:custDataLst>
          </p:nvPr>
        </p:nvSpPr>
        <p:spPr>
          <a:xfrm>
            <a:off x="3096775" y="1724416"/>
            <a:ext cx="261766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>
            <p:custDataLst>
              <p:tags r:id="rId10"/>
            </p:custDataLst>
          </p:nvPr>
        </p:nvSpPr>
        <p:spPr>
          <a:xfrm>
            <a:off x="3384154" y="1866175"/>
            <a:ext cx="643586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89" y="2619139"/>
            <a:ext cx="3737211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 rot="16200000">
            <a:off x="10798198" y="5708698"/>
            <a:ext cx="108000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>
            <p:custDataLst>
              <p:tags r:id="rId15"/>
            </p:custDataLst>
          </p:nvPr>
        </p:nvSpPr>
        <p:spPr>
          <a:xfrm rot="3870695">
            <a:off x="2441344" y="1174224"/>
            <a:ext cx="1676873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>
            <p:custDataLst>
              <p:tags r:id="rId16"/>
            </p:custDataLst>
          </p:nvPr>
        </p:nvSpPr>
        <p:spPr>
          <a:xfrm rot="3870695">
            <a:off x="2236507" y="1174225"/>
            <a:ext cx="1676873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845" y="2974340"/>
            <a:ext cx="5852795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506" y="1631269"/>
            <a:ext cx="4978994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>
            <p:custDataLst>
              <p:tags r:id="rId22"/>
            </p:custDataLst>
          </p:nvPr>
        </p:nvCxnSpPr>
        <p:spPr>
          <a:xfrm>
            <a:off x="1192291" y="5956300"/>
            <a:ext cx="9271478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 flipV="1">
            <a:off x="9258300" y="3925570"/>
            <a:ext cx="2934335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>
            <p:custDataLst>
              <p:tags r:id="rId6"/>
            </p:custDataLst>
          </p:nvPr>
        </p:nvSpPr>
        <p:spPr>
          <a:xfrm>
            <a:off x="732489" y="970310"/>
            <a:ext cx="10620714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678970" y="966964"/>
            <a:ext cx="4484992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>
            <p:custDataLst>
              <p:tags r:id="rId8"/>
            </p:custDataLst>
          </p:nvPr>
        </p:nvSpPr>
        <p:spPr>
          <a:xfrm flipH="1">
            <a:off x="835910" y="5231764"/>
            <a:ext cx="10517890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7041" y="1773850"/>
            <a:ext cx="3774196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3479538" y="5666440"/>
            <a:ext cx="5234214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3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4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5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200" y="1265786"/>
            <a:ext cx="595925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87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20013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80.xml"/><Relationship Id="rId23" Type="http://schemas.openxmlformats.org/officeDocument/2006/relationships/tags" Target="../tags/tag179.xml"/><Relationship Id="rId22" Type="http://schemas.openxmlformats.org/officeDocument/2006/relationships/tags" Target="../tags/tag178.xml"/><Relationship Id="rId21" Type="http://schemas.openxmlformats.org/officeDocument/2006/relationships/tags" Target="../tags/tag177.xml"/><Relationship Id="rId20" Type="http://schemas.openxmlformats.org/officeDocument/2006/relationships/tags" Target="../tags/tag176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75.xml"/><Relationship Id="rId18" Type="http://schemas.openxmlformats.org/officeDocument/2006/relationships/tags" Target="../tags/tag174.xml"/><Relationship Id="rId17" Type="http://schemas.openxmlformats.org/officeDocument/2006/relationships/image" Target="../media/image4.svg"/><Relationship Id="rId16" Type="http://schemas.openxmlformats.org/officeDocument/2006/relationships/image" Target="../media/image3.png"/><Relationship Id="rId15" Type="http://schemas.openxmlformats.org/officeDocument/2006/relationships/tags" Target="../tags/tag17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tags" Target="../tags/tag17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1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image" Target="../media/image5.jpeg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image" Target="../media/image8.png"/><Relationship Id="rId7" Type="http://schemas.openxmlformats.org/officeDocument/2006/relationships/tags" Target="../tags/tag193.xml"/><Relationship Id="rId6" Type="http://schemas.openxmlformats.org/officeDocument/2006/relationships/image" Target="../media/image7.png"/><Relationship Id="rId5" Type="http://schemas.openxmlformats.org/officeDocument/2006/relationships/tags" Target="../tags/tag192.xml"/><Relationship Id="rId4" Type="http://schemas.openxmlformats.org/officeDocument/2006/relationships/image" Target="../media/image6.png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196.xml"/><Relationship Id="rId11" Type="http://schemas.openxmlformats.org/officeDocument/2006/relationships/tags" Target="../tags/tag195.xml"/><Relationship Id="rId10" Type="http://schemas.openxmlformats.org/officeDocument/2006/relationships/image" Target="../media/image9.png"/><Relationship Id="rId1" Type="http://schemas.openxmlformats.org/officeDocument/2006/relationships/tags" Target="../tags/tag18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99.xml"/><Relationship Id="rId3" Type="http://schemas.openxmlformats.org/officeDocument/2006/relationships/image" Target="../media/image10.png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121410"/>
            <a:ext cx="10467975" cy="110109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  <a:sym typeface="+mn-ea"/>
              </a:rPr>
              <a:t>Phishing Awareness Training</a:t>
            </a:r>
            <a:endParaRPr lang="en-US" altLang="en-US" sz="5400"/>
          </a:p>
        </p:txBody>
      </p:sp>
      <p:sp>
        <p:nvSpPr>
          <p:cNvPr id="40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38200" y="4008755"/>
            <a:ext cx="6433820" cy="1666875"/>
          </a:xfrm>
        </p:spPr>
        <p:txBody>
          <a:bodyPr>
            <a:noAutofit/>
          </a:bodyPr>
          <a:lstStyle/>
          <a:p>
            <a:r>
              <a:rPr lang="en-US" altLang="en-US">
                <a:sym typeface="+mn-ea"/>
              </a:rPr>
              <a:t>Prepared by</a:t>
            </a:r>
            <a:endParaRPr lang="en-US" altLang="en-US"/>
          </a:p>
          <a:p>
            <a:r>
              <a:rPr lang="en-US" altLang="en-US">
                <a:sym typeface="+mn-ea"/>
              </a:rPr>
              <a:t>Gauri Bansal</a:t>
            </a:r>
            <a:endParaRPr lang="en-US" altLang="en-US"/>
          </a:p>
          <a:p>
            <a:r>
              <a:rPr lang="en-US" altLang="en-US">
                <a:sym typeface="+mn-ea"/>
              </a:rPr>
              <a:t>CodeAlpha Cyber Security Internship</a:t>
            </a:r>
            <a:endParaRPr lang="en-US" altLang="en-US">
              <a:sym typeface="+mn-ea"/>
            </a:endParaRPr>
          </a:p>
        </p:txBody>
      </p:sp>
      <p:sp>
        <p:nvSpPr>
          <p:cNvPr id="36" name="Title 32"/>
          <p:cNvSpPr>
            <a:spLocks noGrp="1"/>
          </p:cNvSpPr>
          <p:nvPr/>
        </p:nvSpPr>
        <p:spPr>
          <a:xfrm>
            <a:off x="666750" y="569595"/>
            <a:ext cx="9920605" cy="238569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 marL="0" marR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IN" altLang="en-US" sz="4800" b="1" i="0" u="none" strike="noStrike" kern="1200" cap="none" spc="3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dist">
              <a:buNone/>
            </a:pPr>
            <a:endParaRPr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7" name="Text Placeholder 33"/>
          <p:cNvSpPr>
            <a:spLocks noGrp="1"/>
          </p:cNvSpPr>
          <p:nvPr/>
        </p:nvSpPr>
        <p:spPr>
          <a:xfrm>
            <a:off x="1198880" y="2880995"/>
            <a:ext cx="9799320" cy="279463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 kumimoji="0" lang="en-IN" altLang="en-US" sz="2000" b="0" i="0" u="none" strike="noStrike" kern="1200" cap="none" spc="20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lvl="1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lvl="2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lvl="3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lvl="4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8" name="Text Placeholder 34"/>
          <p:cNvSpPr>
            <a:spLocks noGrp="1"/>
          </p:cNvSpPr>
          <p:nvPr/>
        </p:nvSpPr>
        <p:spPr>
          <a:xfrm>
            <a:off x="1198880" y="2955290"/>
            <a:ext cx="9799320" cy="27203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 kumimoji="0" lang="en-IN" altLang="en-US" sz="2000" b="0" i="0" u="none" strike="noStrike" kern="1200" cap="none" spc="20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lvl="1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lvl="2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lvl="3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lvl="4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</a:rPr>
              <a:t>Code Alpha Cyber Security Internship</a:t>
            </a:r>
            <a:endParaRPr b="1">
              <a:solidFill>
                <a:schemeClr val="tx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</a:rPr>
              <a:t>june 2026</a:t>
            </a:r>
            <a:endParaRPr b="1">
              <a:solidFill>
                <a:schemeClr val="tx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6239510" y="1871345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endParaRPr 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Content Placeholder 16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64185" y="1593850"/>
            <a:ext cx="7256145" cy="4581525"/>
          </a:xfrm>
        </p:spPr>
        <p:txBody>
          <a:bodyPr/>
          <a:p>
            <a:pPr marL="0" indent="0">
              <a:buNone/>
            </a:pPr>
            <a:r>
              <a:rPr lang="en-I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1.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Phishing is a cyber attack used to steal sensitive information</a:t>
            </a:r>
            <a:endParaRPr lang="en-US" altLang="en-US" sz="20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buNone/>
            </a:pPr>
            <a:endParaRPr lang="en-US" altLang="en-US" sz="20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buNone/>
            </a:pPr>
            <a:endParaRPr lang="en-US" altLang="en-US" sz="20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63550" y="1733550"/>
            <a:ext cx="7256780" cy="451612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altLang="en-US">
              <a:sym typeface="+mn-ea"/>
            </a:endParaRPr>
          </a:p>
          <a:p>
            <a:pPr marL="0" indent="0">
              <a:buNone/>
            </a:pPr>
            <a:endParaRPr lang="en-IN" altLang="en-US">
              <a:sym typeface="+mn-ea"/>
            </a:endParaRPr>
          </a:p>
          <a:p>
            <a:pPr marL="0" indent="0">
              <a:buNone/>
            </a:pPr>
            <a:r>
              <a:rPr lang="en-IN" altLang="en-US">
                <a:sym typeface="+mn-ea"/>
              </a:rPr>
              <a:t>2. </a:t>
            </a:r>
            <a:r>
              <a:rPr lang="en-US" altLang="en-US">
                <a:sym typeface="+mn-ea"/>
              </a:rPr>
              <a:t>Attackers create fake emails, websites, or messages.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3.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The goal is to steal passwords, OTPs, bank details, or personal data.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 descr="phishing-flat-phishing-design-phishing-phishing-illustration-internet-crime-phishing-via-email-on-a-laptop-fishing-hook-flat-design-illustration-vector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20330" y="1306195"/>
            <a:ext cx="4380865" cy="2780665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45"/>
            <a:ext cx="10800080" cy="946150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What is Phishing?</a:t>
            </a:r>
            <a:endParaRPr 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Content Placeholder 18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IN" altLang="en-US"/>
              <a:t>  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457200" lvl="1" indent="0">
              <a:buNone/>
            </a:pPr>
            <a:endParaRPr lang="en-IN" altLang="en-US" sz="2400">
              <a:solidFill>
                <a:schemeClr val="tx1"/>
              </a:solidFill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330" y="1733550"/>
            <a:ext cx="11168380" cy="451612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IN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      </a:t>
            </a:r>
            <a:r>
              <a:rPr lang="en-IN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Email Phishing</a:t>
            </a:r>
            <a:r>
              <a:rPr lang="en-IN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– Fake emails to steal information</a:t>
            </a: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        </a:t>
            </a:r>
            <a:r>
              <a:rPr lang="en-IN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MS Phishing (Smishing)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– Fake SMS with malicious links</a:t>
            </a: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IN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      </a:t>
            </a:r>
            <a:r>
              <a:rPr lang="en-IN" alt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Voice Phishing (Vishing)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– Fraud calls asking for personal </a:t>
            </a:r>
            <a:r>
              <a:rPr lang="en-IN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    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details.</a:t>
            </a:r>
            <a:endParaRPr lang="en-IN" alt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IN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     </a:t>
            </a:r>
            <a:r>
              <a:rPr lang="en-IN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Spear Phishing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– Targeted attacks on specific individuals</a:t>
            </a:r>
            <a:r>
              <a:rPr lang="en-US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alt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 descr="icons8-email-phishing-3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18820" y="1643380"/>
            <a:ext cx="498475" cy="781050"/>
          </a:xfrm>
          <a:prstGeom prst="rect">
            <a:avLst/>
          </a:prstGeom>
        </p:spPr>
      </p:pic>
      <p:pic>
        <p:nvPicPr>
          <p:cNvPr id="5" name="Picture 4" descr="icons8-phishing-10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08635" y="2195195"/>
            <a:ext cx="779145" cy="779145"/>
          </a:xfrm>
          <a:prstGeom prst="rect">
            <a:avLst/>
          </a:prstGeom>
        </p:spPr>
      </p:pic>
      <p:pic>
        <p:nvPicPr>
          <p:cNvPr id="6" name="Picture 5" descr="icons8-voice-10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3240" y="2753995"/>
            <a:ext cx="808355" cy="808355"/>
          </a:xfrm>
          <a:prstGeom prst="rect">
            <a:avLst/>
          </a:prstGeom>
        </p:spPr>
      </p:pic>
      <p:pic>
        <p:nvPicPr>
          <p:cNvPr id="7" name="Picture 6" descr="icons8-spear-phishing-5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78155" y="3891915"/>
            <a:ext cx="852805" cy="882015"/>
          </a:xfrm>
          <a:prstGeom prst="rect">
            <a:avLst/>
          </a:prstGeom>
        </p:spPr>
      </p:pic>
      <p:sp>
        <p:nvSpPr>
          <p:cNvPr id="17" name="Title 16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95960" y="360045"/>
            <a:ext cx="10800080" cy="91757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Types of Phishing</a:t>
            </a:r>
            <a:endParaRPr lang="en-US" dirty="0"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10800080" cy="918845"/>
          </a:xfrm>
        </p:spPr>
        <p:txBody>
          <a:bodyPr/>
          <a:p>
            <a:r>
              <a:rPr lang="en-US" altLang="en-US"/>
              <a:t>How to Identify Phishing Emails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721485"/>
            <a:ext cx="10800080" cy="4453890"/>
          </a:xfrm>
        </p:spPr>
        <p:txBody>
          <a:bodyPr/>
          <a:p>
            <a:r>
              <a:rPr lang="en-US" altLang="en-US"/>
              <a:t>Check the sender's email address.</a:t>
            </a:r>
            <a:endParaRPr lang="en-US" altLang="en-US"/>
          </a:p>
          <a:p>
            <a:r>
              <a:rPr lang="en-US" altLang="en-US"/>
              <a:t>Avoid clicking unknown links.</a:t>
            </a:r>
            <a:endParaRPr lang="en-US" altLang="en-US"/>
          </a:p>
          <a:p>
            <a:r>
              <a:rPr lang="en-US" altLang="en-US"/>
              <a:t>Look for spelling and grammar mistakes.</a:t>
            </a:r>
            <a:endParaRPr lang="en-US" altLang="en-US"/>
          </a:p>
          <a:p>
            <a:r>
              <a:rPr lang="en-US" altLang="en-US"/>
              <a:t>Never share passwords or OTPs.</a:t>
            </a:r>
            <a:endParaRPr lang="en-US" altLang="en-US"/>
          </a:p>
          <a:p>
            <a:r>
              <a:rPr lang="en-US" altLang="en-US"/>
              <a:t>Verify suspicious attachments before opening.</a:t>
            </a:r>
            <a:endParaRPr lang="en-US" altLang="en-US"/>
          </a:p>
        </p:txBody>
      </p:sp>
      <p:pic>
        <p:nvPicPr>
          <p:cNvPr id="4" name="Picture 3" descr="icons8-email-open-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555" y="1854835"/>
            <a:ext cx="2586990" cy="18154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10800080" cy="941705"/>
          </a:xfrm>
        </p:spPr>
        <p:txBody>
          <a:bodyPr/>
          <a:p>
            <a:r>
              <a:rPr lang="en-US" altLang="en-US" sz="3600"/>
              <a:t>Best Practices to Stay Safe</a:t>
            </a:r>
            <a:endParaRPr lang="en-US" alt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790065"/>
            <a:ext cx="10800080" cy="4385310"/>
          </a:xfrm>
        </p:spPr>
        <p:txBody>
          <a:bodyPr/>
          <a:p>
            <a:r>
              <a:rPr lang="en-US" altLang="en-US"/>
              <a:t>Enable Two-Factor Authentication (2FA)</a:t>
            </a:r>
            <a:endParaRPr lang="en-US" altLang="en-US"/>
          </a:p>
          <a:p>
            <a:r>
              <a:rPr lang="en-US" altLang="en-US"/>
              <a:t>Use strong passwords</a:t>
            </a:r>
            <a:endParaRPr lang="en-US" altLang="en-US"/>
          </a:p>
          <a:p>
            <a:r>
              <a:rPr lang="en-US" altLang="en-US"/>
              <a:t>Keep software updated</a:t>
            </a:r>
            <a:endParaRPr lang="en-US" altLang="en-US"/>
          </a:p>
          <a:p>
            <a:r>
              <a:rPr lang="en-US" altLang="en-US"/>
              <a:t>Install antivirus software</a:t>
            </a:r>
            <a:endParaRPr lang="en-US" altLang="en-US"/>
          </a:p>
          <a:p>
            <a:r>
              <a:rPr lang="en-US" altLang="en-US"/>
              <a:t>Report suspicious emails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10800080" cy="1080135"/>
          </a:xfrm>
        </p:spPr>
        <p:txBody>
          <a:bodyPr/>
          <a:p>
            <a:r>
              <a:rPr lang="en-US" altLang="en-US" sz="4000"/>
              <a:t>Real World Example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785620"/>
            <a:ext cx="10800080" cy="4389755"/>
          </a:xfrm>
        </p:spPr>
        <p:txBody>
          <a:bodyPr/>
          <a:p>
            <a:r>
              <a:rPr lang="en-US" altLang="en-US" sz="3200" b="1"/>
              <a:t>Google Docs Phishing Attack (2017</a:t>
            </a:r>
            <a:r>
              <a:rPr lang="en-US" altLang="en-US" sz="4000" b="1"/>
              <a:t>)</a:t>
            </a:r>
            <a:r>
              <a:rPr lang="en-IN" altLang="en-US" sz="4000" b="1"/>
              <a:t>:</a:t>
            </a:r>
            <a:endParaRPr lang="en-US" altLang="en-US"/>
          </a:p>
          <a:p>
            <a:r>
              <a:rPr lang="en-US" altLang="en-US"/>
              <a:t>Fake Google Docs invitation emails were sent.</a:t>
            </a:r>
            <a:endParaRPr lang="en-US" altLang="en-US"/>
          </a:p>
          <a:p>
            <a:r>
              <a:rPr lang="en-US" altLang="en-US"/>
              <a:t>Users clicked the fake link.</a:t>
            </a:r>
            <a:endParaRPr lang="en-US" altLang="en-US"/>
          </a:p>
          <a:p>
            <a:r>
              <a:rPr lang="en-US" altLang="en-US"/>
              <a:t>Attackers gained access to Google accounts.</a:t>
            </a:r>
            <a:endParaRPr lang="en-US" altLang="en-US"/>
          </a:p>
          <a:p>
            <a:r>
              <a:rPr lang="en-US" altLang="en-US"/>
              <a:t>Google quickly blocked the attack</a:t>
            </a:r>
            <a:r>
              <a:rPr lang="en-IN" altLang="en-US"/>
              <a:t>.</a:t>
            </a:r>
            <a:endParaRPr lang="en-I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4000"/>
              <a:t>Quick Quiz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pPr marL="342900" indent="-342900">
              <a:buAutoNum type="arabicPeriod"/>
            </a:pPr>
            <a:r>
              <a:rPr lang="en-US" altLang="en-US"/>
              <a:t>What is phishing?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 </a:t>
            </a:r>
            <a:r>
              <a:rPr lang="en-US" altLang="en-US"/>
              <a:t>A) Safe Email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r>
              <a:rPr lang="en-IN" altLang="en-US"/>
              <a:t>   </a:t>
            </a:r>
            <a:r>
              <a:rPr lang="en-US" altLang="en-US"/>
              <a:t>B) Cyber Attack ✅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r>
              <a:rPr lang="en-IN" altLang="en-US"/>
              <a:t>   </a:t>
            </a:r>
            <a:r>
              <a:rPr lang="en-US" altLang="en-US"/>
              <a:t>C) Antivirus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2.  </a:t>
            </a:r>
            <a:r>
              <a:rPr lang="en-US" altLang="en-US"/>
              <a:t>Should you share OTP?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  </a:t>
            </a:r>
            <a:r>
              <a:rPr lang="en-US" altLang="en-US"/>
              <a:t>A) Yes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  </a:t>
            </a:r>
            <a:r>
              <a:rPr lang="en-US" altLang="en-US"/>
              <a:t>B) No ✅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3.   </a:t>
            </a:r>
            <a:r>
              <a:rPr lang="en-US" altLang="en-US"/>
              <a:t>What should you check first?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r>
              <a:rPr lang="en-IN" altLang="en-US"/>
              <a:t>    </a:t>
            </a:r>
            <a:r>
              <a:rPr lang="en-US" altLang="en-US"/>
              <a:t>A) Sender Email ✅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  </a:t>
            </a:r>
            <a:r>
              <a:rPr lang="en-US" altLang="en-US"/>
              <a:t>B) Wallpaper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10800080" cy="941705"/>
          </a:xfrm>
        </p:spPr>
        <p:txBody>
          <a:bodyPr/>
          <a:p>
            <a:r>
              <a:rPr lang="en-US" altLang="en-US" sz="4000"/>
              <a:t>Thank You</a:t>
            </a:r>
            <a:endParaRPr lang="en-US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661795"/>
            <a:ext cx="10800080" cy="4513580"/>
          </a:xfrm>
        </p:spPr>
        <p:txBody>
          <a:bodyPr/>
          <a:p>
            <a:r>
              <a:rPr lang="en-US" altLang="en-US" sz="2800"/>
              <a:t>Thank You!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Prepared by</a:t>
            </a:r>
            <a:endParaRPr lang="en-US" altLang="en-US" sz="2800"/>
          </a:p>
          <a:p>
            <a:r>
              <a:rPr lang="en-US" altLang="en-US" sz="2800"/>
              <a:t>Gauri </a:t>
            </a:r>
            <a:endParaRPr lang="en-US" altLang="en-US" sz="2800"/>
          </a:p>
          <a:p>
            <a:r>
              <a:rPr lang="en-US" altLang="en-US" sz="2800"/>
              <a:t>CodeAlpha Cyber Security Internship</a:t>
            </a: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7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80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96_1*a*1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The title goes here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96_1*b*1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Add description"/>
</p:tagLst>
</file>

<file path=ppt/tags/tag183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9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96"/>
  <p:tag name="KSO_WM_SLIDE_LAYOUT" val="a_b_f"/>
  <p:tag name="KSO_WM_SLIDE_LAYOUT_CNT" val="1_1_2"/>
  <p:tag name="KSO_WM_SLIDE_THEME_ID" val="3326791"/>
  <p:tag name="KSO_WM_SLIDE_THEME_NAME" val="Green Fresh"/>
</p:tagLst>
</file>

<file path=ppt/tags/tag18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186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8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9"/>
  <p:tag name="KSO_WM_UNIT_TYPE" val="f"/>
  <p:tag name="KSO_WM_UNIT_SUBTYPE" val="a"/>
</p:tagLst>
</file>

<file path=ppt/tags/tag191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92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93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9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195.xml><?xml version="1.0" encoding="utf-8"?>
<p:tagLst xmlns:p="http://schemas.openxmlformats.org/presentationml/2006/main">
  <p:tag name="KSO_WM_UNIT_TEXT" val="What is Phishing?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1463</Words>
  <Application>WPS Presentation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江城圆体 400W</vt:lpstr>
      <vt:lpstr>Crimson Text SemiBold</vt:lpstr>
      <vt:lpstr>Charis SIL</vt:lpstr>
      <vt:lpstr>Segoe Print</vt:lpstr>
      <vt:lpstr>Algerian</vt:lpstr>
      <vt:lpstr>Arial Black</vt:lpstr>
      <vt:lpstr>WPS</vt:lpstr>
      <vt:lpstr>Office Theme</vt:lpstr>
      <vt:lpstr>June 2026</vt:lpstr>
      <vt:lpstr>What is Phishing?</vt:lpstr>
      <vt:lpstr>Types of Phishing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Harsh</dc:creator>
  <cp:lastModifiedBy>Harsh</cp:lastModifiedBy>
  <cp:revision>2</cp:revision>
  <dcterms:created xsi:type="dcterms:W3CDTF">2026-06-26T14:35:44Z</dcterms:created>
  <dcterms:modified xsi:type="dcterms:W3CDTF">2026-06-26T14:35:58Z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C6A29703B7B349DAA768A5340DD7E976_13</vt:lpwstr>
  </property>
</Properties>
</file>